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2065020"/>
            <a:ext cx="109728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685800" y="2286000"/>
            <a:ext cx="10820400" cy="1143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6400" b="1" i="0" dirty="0">
                <a:solidFill>
                  <a:srgbClr val="FFFFFF"/>
                </a:solidFill>
                <a:latin typeface="Inter"/>
                <a:cs typeface="Inter"/>
              </a:rPr>
              <a:t>Supacharge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3581400"/>
            <a:ext cx="10820400" cy="16002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800" b="0" i="0" dirty="0">
                <a:solidFill>
                  <a:srgbClr val="9A9A9A"/>
                </a:solidFill>
                <a:latin typeface="Inter"/>
                <a:cs typeface="Inter"/>
              </a:rPr>
              <a:t>The live tutors your family couldn't afford — now you can. "To the next level."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5A5A5A"/>
                </a:solidFill>
                <a:latin typeface="Inter"/>
                <a:cs typeface="Inter"/>
              </a:rPr>
              <a:t>EdTech — high-school (FET phase) live tutoring · South Africa (Musina, Limpopo) · founded Supacharge operates under ROKCT INTELLIGENCE (PTY) LTD, registered 25 November 2025 (CIPC 2025/919921/07); source: CIPC Business Registration Certificate in Compliance/ROKCT/.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5A5A5A"/>
                </a:solidFill>
                <a:latin typeface="Inter"/>
              </a:rPr>
              <a:t>A product of ROKCT INTELLIGENCE (PTY) LTD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96990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A5A5A"/>
                </a:solidFill>
                <a:latin typeface="Inter"/>
                <a:cs typeface="Inter"/>
              </a:rPr>
              <a:t>Supacharge  ·  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96240"/>
            <a:ext cx="108204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Inter"/>
                <a:cs typeface="Inter"/>
              </a:rPr>
              <a:t>The Problem</a:t>
            </a:r>
          </a:p>
        </p:txBody>
      </p:sp>
      <p:sp>
        <p:nvSpPr>
          <p:cNvPr id="3" name="Accent"/>
          <p:cNvSpPr/>
          <p:nvPr/>
        </p:nvSpPr>
        <p:spPr>
          <a:xfrm>
            <a:off x="685800" y="1258570"/>
            <a:ext cx="109728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Body"/>
          <p:cNvSpPr txBox="1"/>
          <p:nvPr/>
        </p:nvSpPr>
        <p:spPr>
          <a:xfrm>
            <a:off x="685800" y="1481328"/>
            <a:ext cx="10820400" cy="46843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FET learners (2.9M in Grades 10–12) and their families cannot afford effective exam help: private tutoring costs R100–R250 per hour per subject, public-school classes average 30.8 learners per educator, and only 47.8% of 2024 matric candidates achieved a Bachelor pass. The cost is life-long: matric outcomes gate university entry and employment.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96990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A5A5A"/>
                </a:solidFill>
                <a:latin typeface="Inter"/>
                <a:cs typeface="Inter"/>
              </a:rPr>
              <a:t>Supacharge  · 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B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685800" y="396240"/>
            <a:ext cx="7498079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Inter"/>
                <a:cs typeface="Inter"/>
              </a:rPr>
              <a:t>The Solution</a:t>
            </a:r>
          </a:p>
        </p:txBody>
      </p:sp>
      <p:sp>
        <p:nvSpPr>
          <p:cNvPr id="4" name="Accent"/>
          <p:cNvSpPr/>
          <p:nvPr/>
        </p:nvSpPr>
        <p:spPr>
          <a:xfrm>
            <a:off x="685800" y="1258570"/>
            <a:ext cx="109728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dy"/>
          <p:cNvSpPr txBox="1"/>
          <p:nvPr/>
        </p:nvSpPr>
        <p:spPr>
          <a:xfrm>
            <a:off x="685800" y="1481328"/>
            <a:ext cx="7498079" cy="46843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Live, expert human teaching — every lesson taught by a subject expert plus a simplifier — across the complete CAPS and IEB FET curricula, at a subscription price one-to-one tutoring can never reach.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Inter"/>
                <a:cs typeface="Inter"/>
              </a:rPr>
              <a:t>What ships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Supacharge app (Flutter, composed from modular SDKs) — schedule, live sessions, practice, leagues, progress; lesson factory (github.com/RokctAI/factory) — automated production of the 732-package CAPS + IEB catalogue; Manim pipeline — animated whiteboard scenes per lesson; multi-tenant backend (Python/Frappe) — accounts, billing, content delivery; per-grade assistant hosts — learner support between sessions.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96990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A5A5A"/>
                </a:solidFill>
                <a:latin typeface="Inter"/>
                <a:cs typeface="Inter"/>
              </a:rPr>
              <a:t>Supacharge  · 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96240"/>
            <a:ext cx="108204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Inter"/>
                <a:cs typeface="Inter"/>
              </a:rPr>
              <a:t>Market</a:t>
            </a:r>
          </a:p>
        </p:txBody>
      </p:sp>
      <p:sp>
        <p:nvSpPr>
          <p:cNvPr id="3" name="Accent"/>
          <p:cNvSpPr/>
          <p:nvPr/>
        </p:nvSpPr>
        <p:spPr>
          <a:xfrm>
            <a:off x="685800" y="1258570"/>
            <a:ext cx="109728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"/>
          <p:cNvGraphicFramePr/>
          <p:nvPr/>
        </p:nvGraphicFramePr>
        <p:xfrm>
          <a:off x="685800" y="1481328"/>
          <a:ext cx="10820400" cy="1341120"/>
        </p:xfrm>
        <a:graphic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3352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A1204"/>
                          </a:solidFill>
                          <a:latin typeface="Inter"/>
                          <a:cs typeface="Inter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A1204"/>
                          </a:solidFill>
                          <a:latin typeface="Inter"/>
                          <a:cs typeface="Inter"/>
                        </a:rPr>
                        <a:t>Size</a:t>
                      </a:r>
                    </a:p>
                  </a:txBody>
                  <a:tcPr marL="91440" marR="91440" marT="45720" marB="45720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A1204"/>
                          </a:solidFill>
                          <a:latin typeface="Inter"/>
                          <a:cs typeface="Inter"/>
                        </a:rPr>
                        <a:t>Share of the layer above</a:t>
                      </a:r>
                    </a:p>
                  </a:txBody>
                  <a:tcPr marL="91440" marR="91440" marT="45720" marB="45720">
                    <a:solidFill>
                      <a:srgbClr val="FF660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TAM — the whole category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R1.5bn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SAM — reachable with the current model</a:t>
                      </a:r>
                    </a:p>
                  </a:txBody>
                  <a:tcPr marL="91440" marR="91440" marT="45720" marB="45720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R1.5bn</a:t>
                      </a:r>
                    </a:p>
                  </a:txBody>
                  <a:tcPr marL="91440" marR="91440" marT="45720" marB="45720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100.0% of TAM</a:t>
                      </a:r>
                    </a:p>
                  </a:txBody>
                  <a:tcPr marL="91440" marR="91440" marT="45720" marB="45720">
                    <a:solidFill>
                      <a:srgbClr val="16161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SOM — realistic capture over 36 months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R125m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8.3% of SAM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Body"/>
          <p:cNvSpPr txBox="1"/>
          <p:nvPr/>
        </p:nvSpPr>
        <p:spPr>
          <a:xfrm>
            <a:off x="685800" y="3005328"/>
            <a:ext cx="10820400" cy="31603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Inter"/>
                <a:cs typeface="Inter"/>
              </a:rPr>
              <a:t>Why now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Structural, annual demand — every learner writes matric; record headline pass rates (87.3% in 2024) masking low Bachelor-pass and maths outcomes, which keeps parents seeking help; shrinking maths candidate numbers raising the stakes for maths support (2024 NSC results; ITWeb).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96990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A5A5A"/>
                </a:solidFill>
                <a:latin typeface="Inter"/>
                <a:cs typeface="Inter"/>
              </a:rPr>
              <a:t>Supacharge  · 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B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685800" y="396240"/>
            <a:ext cx="7498079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Inter"/>
                <a:cs typeface="Inter"/>
              </a:rPr>
              <a:t>Business Model</a:t>
            </a:r>
          </a:p>
        </p:txBody>
      </p:sp>
      <p:sp>
        <p:nvSpPr>
          <p:cNvPr id="4" name="Accent"/>
          <p:cNvSpPr/>
          <p:nvPr/>
        </p:nvSpPr>
        <p:spPr>
          <a:xfrm>
            <a:off x="685800" y="1258570"/>
            <a:ext cx="109728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dy"/>
          <p:cNvSpPr txBox="1"/>
          <p:nvPr/>
        </p:nvSpPr>
        <p:spPr>
          <a:xfrm>
            <a:off x="685800" y="1481328"/>
            <a:ext cx="7498079" cy="46843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Consumer subscriptions (current pricing implemented in billing: R299/month, R249/month with accountability partner — a flat R50 off, R2,990/year; Holiday Programme R449 one-off). Final structure: three-tier expansion agreed 23 Aug 2026 — One R199/month (single subject) / Standard R299/month / Ahead R599/month — final prices pending confirmation before launch.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Inter"/>
                <a:cs typeface="Inter"/>
              </a:rPr>
              <a:t>Pricing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Current pricing implemented in billing: R299/month; R249/month with an accountability partner (a flat R50 off); R2,990/year; Holiday Programme R449 one-off.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Final tier structure: three-tier expansion agreed 23 Aug 2026 — One R199/month (single subject) / Standard R299/month / Ahead R599/month — final prices pending confirmation before launch.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96990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A5A5A"/>
                </a:solidFill>
                <a:latin typeface="Inter"/>
                <a:cs typeface="Inter"/>
              </a:rPr>
              <a:t>Supacharge  · 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B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685800" y="396240"/>
            <a:ext cx="7498079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Inter"/>
                <a:cs typeface="Inter"/>
              </a:rPr>
              <a:t>Traction</a:t>
            </a:r>
          </a:p>
        </p:txBody>
      </p:sp>
      <p:sp>
        <p:nvSpPr>
          <p:cNvPr id="4" name="Accent"/>
          <p:cNvSpPr/>
          <p:nvPr/>
        </p:nvSpPr>
        <p:spPr>
          <a:xfrm>
            <a:off x="685800" y="1258570"/>
            <a:ext cx="109728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dy"/>
          <p:cNvSpPr txBox="1"/>
          <p:nvPr/>
        </p:nvSpPr>
        <p:spPr>
          <a:xfrm>
            <a:off x="685800" y="1481328"/>
            <a:ext cx="7498079" cy="46843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Complete dual-curriculum catalogue built and published (732 lesson packages across CAPS and IEB, six subjects, Grades 10–12); working Flutter app with automated CI-captured product tour; multi-tenant backend live — all built by one founder.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Inter"/>
                <a:cs typeface="Inter"/>
              </a:rPr>
              <a:t>Raised to date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None — bootstrapped by the founder to date; no external funding raised.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96990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A5A5A"/>
                </a:solidFill>
                <a:latin typeface="Inter"/>
                <a:cs typeface="Inter"/>
              </a:rPr>
              <a:t>Supacharge  · 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96240"/>
            <a:ext cx="108204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Inter"/>
                <a:cs typeface="Inter"/>
              </a:rPr>
              <a:t>Competition</a:t>
            </a:r>
          </a:p>
        </p:txBody>
      </p:sp>
      <p:sp>
        <p:nvSpPr>
          <p:cNvPr id="3" name="Accent"/>
          <p:cNvSpPr/>
          <p:nvPr/>
        </p:nvSpPr>
        <p:spPr>
          <a:xfrm>
            <a:off x="685800" y="1258570"/>
            <a:ext cx="109728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"/>
          <p:cNvGraphicFramePr/>
          <p:nvPr/>
        </p:nvGraphicFramePr>
        <p:xfrm>
          <a:off x="685800" y="1481328"/>
          <a:ext cx="10820400" cy="2011680"/>
        </p:xfrm>
        <a:graphic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3352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A1204"/>
                          </a:solidFill>
                          <a:latin typeface="Inter"/>
                          <a:cs typeface="Inter"/>
                        </a:rPr>
                        <a:t>Competitor</a:t>
                      </a:r>
                    </a:p>
                  </a:txBody>
                  <a:tcPr marL="91440" marR="91440" marT="45720" marB="45720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A1204"/>
                          </a:solidFill>
                          <a:latin typeface="Inter"/>
                          <a:cs typeface="Inter"/>
                        </a:rPr>
                        <a:t>Positioning against them</a:t>
                      </a:r>
                    </a:p>
                  </a:txBody>
                  <a:tcPr marL="91440" marR="91440" marT="45720" marB="45720">
                    <a:solidFill>
                      <a:srgbClr val="FF660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Private tutors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live but one-to-one at R100–R250/hr — can't scale past one learner per hour.</a:t>
                      </a:r>
                    </a:p>
                  </a:txBody>
                  <a:tcPr marL="91440" marR="91440" marT="45720" marB="45720"/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Teach Me 2</a:t>
                      </a:r>
                    </a:p>
                  </a:txBody>
                  <a:tcPr marL="91440" marR="91440" marT="45720" marB="45720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tutor-matching marketplace, per-hour 1-to-1 pricing.</a:t>
                      </a:r>
                    </a:p>
                  </a:txBody>
                  <a:tcPr marL="91440" marR="91440" marT="45720" marB="45720">
                    <a:solidFill>
                      <a:srgbClr val="16161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Paper Video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recorded CAPS-aligned videos with past-paper practice — scales, but can't respond to a confused learner.</a:t>
                      </a:r>
                    </a:p>
                  </a:txBody>
                  <a:tcPr marL="91440" marR="91440" marT="45720" marB="45720"/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Matric Live</a:t>
                      </a:r>
                    </a:p>
                  </a:txBody>
                  <a:tcPr marL="91440" marR="91440" marT="45720" marB="45720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freemium app whose paid tier is an AI Q&amp;A chat — not taught live lessons.</a:t>
                      </a:r>
                    </a:p>
                  </a:txBody>
                  <a:tcPr marL="91440" marR="91440" marT="45720" marB="45720">
                    <a:solidFill>
                      <a:srgbClr val="16161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Supacharge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live scheduled group teaching, two-tutor format, full CAPS + IEB catalogue, subscription pricing.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Body"/>
          <p:cNvSpPr txBox="1"/>
          <p:nvPr/>
        </p:nvSpPr>
        <p:spPr>
          <a:xfrm>
            <a:off x="685800" y="3675888"/>
            <a:ext cx="10820400" cy="248983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Inter"/>
                <a:cs typeface="Inter"/>
              </a:rPr>
              <a:t>Our advantage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The complete dual-curriculum catalogue (732 lesson packages, nine components each) plus the automated lesson factory that produced it, the two-tutor live format, and the capital efficiency of a platform built end to end by one founder.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96990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A5A5A"/>
                </a:solidFill>
                <a:latin typeface="Inter"/>
                <a:cs typeface="Inter"/>
              </a:rPr>
              <a:t>Supacharge  · 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B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685800" y="396240"/>
            <a:ext cx="7498079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Inter"/>
                <a:cs typeface="Inter"/>
              </a:rPr>
              <a:t>Go To Market</a:t>
            </a:r>
          </a:p>
        </p:txBody>
      </p:sp>
      <p:sp>
        <p:nvSpPr>
          <p:cNvPr id="4" name="Accent"/>
          <p:cNvSpPr/>
          <p:nvPr/>
        </p:nvSpPr>
        <p:spPr>
          <a:xfrm>
            <a:off x="685800" y="1258570"/>
            <a:ext cx="109728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dy"/>
          <p:cNvSpPr txBox="1"/>
          <p:nvPr/>
        </p:nvSpPr>
        <p:spPr>
          <a:xfrm>
            <a:off x="685800" y="1481328"/>
            <a:ext cx="7498079" cy="46843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Google Play. Social channels fed by per-lesson promo reel clips — TikTok (organic short-form content) is the primary channel. In-person school visits. Word of mouth from the 100-student free pilot. All organic — no paid channels.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96990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A5A5A"/>
                </a:solidFill>
                <a:latin typeface="Inter"/>
                <a:cs typeface="Inter"/>
              </a:rPr>
              <a:t>Supacharge  · 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96240"/>
            <a:ext cx="108204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Inter"/>
                <a:cs typeface="Inter"/>
              </a:rPr>
              <a:t>Financials</a:t>
            </a:r>
          </a:p>
        </p:txBody>
      </p:sp>
      <p:sp>
        <p:nvSpPr>
          <p:cNvPr id="3" name="Accent"/>
          <p:cNvSpPr/>
          <p:nvPr/>
        </p:nvSpPr>
        <p:spPr>
          <a:xfrm>
            <a:off x="685800" y="1258570"/>
            <a:ext cx="109728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"/>
          <p:cNvGraphicFramePr/>
          <p:nvPr/>
        </p:nvGraphicFramePr>
        <p:xfrm>
          <a:off x="685800" y="1481328"/>
          <a:ext cx="10820400" cy="1341120"/>
        </p:xfrm>
        <a:graphic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3352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A1204"/>
                          </a:solidFill>
                          <a:latin typeface="Inter"/>
                          <a:cs typeface="Inter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A1204"/>
                          </a:solidFill>
                          <a:latin typeface="Inter"/>
                          <a:cs typeface="Inter"/>
                        </a:rPr>
                        <a:t>Revenue</a:t>
                      </a:r>
                    </a:p>
                  </a:txBody>
                  <a:tcPr marL="91440" marR="91440" marT="45720" marB="45720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A1204"/>
                          </a:solidFill>
                          <a:latin typeface="Inter"/>
                          <a:cs typeface="Inter"/>
                        </a:rPr>
                        <a:t>YoY growth</a:t>
                      </a:r>
                    </a:p>
                  </a:txBody>
                  <a:tcPr marL="91440" marR="91440" marT="45720" marB="45720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2A1204"/>
                          </a:solidFill>
                          <a:latin typeface="Inter"/>
                          <a:cs typeface="Inter"/>
                        </a:rPr>
                        <a:t>Gross profit (at 80% target margin)</a:t>
                      </a:r>
                    </a:p>
                  </a:txBody>
                  <a:tcPr marL="91440" marR="91440" marT="45720" marB="45720">
                    <a:solidFill>
                      <a:srgbClr val="FF660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Year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R14.4m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R11.52m</a:t>
                      </a:r>
                    </a:p>
                  </a:txBody>
                  <a:tcPr marL="91440" marR="91440" marT="45720" marB="45720"/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Year 2</a:t>
                      </a:r>
                    </a:p>
                  </a:txBody>
                  <a:tcPr marL="91440" marR="91440" marT="45720" marB="45720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R43m</a:t>
                      </a:r>
                    </a:p>
                  </a:txBody>
                  <a:tcPr marL="91440" marR="91440" marT="45720" marB="45720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+199%</a:t>
                      </a:r>
                    </a:p>
                  </a:txBody>
                  <a:tcPr marL="91440" marR="91440" marT="45720" marB="45720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R34.4m</a:t>
                      </a:r>
                    </a:p>
                  </a:txBody>
                  <a:tcPr marL="91440" marR="91440" marT="45720" marB="45720">
                    <a:solidFill>
                      <a:srgbClr val="16161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Year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R129m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+200%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9A9A9A"/>
                          </a:solidFill>
                          <a:latin typeface="Inter"/>
                          <a:cs typeface="Inter"/>
                        </a:rPr>
                        <a:t>R103.2m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Body"/>
          <p:cNvSpPr txBox="1"/>
          <p:nvPr/>
        </p:nvSpPr>
        <p:spPr>
          <a:xfrm>
            <a:off x="685800" y="3005328"/>
            <a:ext cx="10820400" cy="31603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CAC payback: 0.4 months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1" dirty="0">
                <a:solidFill>
                  <a:srgbClr val="5A5A5A"/>
                </a:solidFill>
                <a:latin typeface="Inter"/>
                <a:cs typeface="Inter"/>
              </a:rPr>
              <a:t>LTV not derivable yet — needs Average Revenue Per Customer, Gross Margin Target and Customer Churn Rate.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1" dirty="0">
                <a:solidFill>
                  <a:srgbClr val="5A5A5A"/>
                </a:solidFill>
                <a:latin typeface="Inter"/>
                <a:cs typeface="Inter"/>
              </a:rPr>
              <a:t>Runway not derivable yet — needs Cash On Hand and Monthly Operating Costs.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Break-even: Because the bootstrapped cost base is minimal (infrastructure and AI API costs, no salaries), break-even is reached at a low subscriber count relative to the current 100-student pilot. It is tied to paid conversion at public launch — planned for January 2027, with a preferred earlier first paid revenue start in December 2026 via the Holiday Programme — rather than modelled to a specific figure or date.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1" dirty="0">
                <a:solidFill>
                  <a:srgbClr val="5A5A5A"/>
                </a:solidFill>
                <a:latin typeface="Inter"/>
                <a:cs typeface="Inter"/>
              </a:rPr>
              <a:t>All figures in ZAR (R).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96990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A5A5A"/>
                </a:solidFill>
                <a:latin typeface="Inter"/>
                <a:cs typeface="Inter"/>
              </a:rPr>
              <a:t>Supacharge  · 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96240"/>
            <a:ext cx="108204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Inter"/>
                <a:cs typeface="Inter"/>
              </a:rPr>
              <a:t>Team</a:t>
            </a:r>
          </a:p>
        </p:txBody>
      </p:sp>
      <p:sp>
        <p:nvSpPr>
          <p:cNvPr id="3" name="Accent"/>
          <p:cNvSpPr/>
          <p:nvPr/>
        </p:nvSpPr>
        <p:spPr>
          <a:xfrm>
            <a:off x="685800" y="1258570"/>
            <a:ext cx="109728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Body"/>
          <p:cNvSpPr txBox="1"/>
          <p:nvPr/>
        </p:nvSpPr>
        <p:spPr>
          <a:xfrm>
            <a:off x="685800" y="1481328"/>
            <a:ext cx="10820400" cy="46843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Rendani (Ray) Sinyage — Founder; owns product, engineering, content and operations.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Headcount: 1 (solo founder)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Inter"/>
                <a:cs typeface="Inter"/>
              </a:rPr>
              <a:t>Hiring next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Planned first-team shape (agreed 24 Aug 2026), timed post-funding — the company is deliberately AI-first, so the first hires are non-engineering (AI tutors deliver the curriculum; AI agent sessions cover engineering).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Two full-time hires: (1) platform operations owner (SRE/on-call) and (2) school partnerships lead (SA sales/BD).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Around them: a remote pool of part-time South African teacher-raters scoring lessons per rubric, with one fractional lead moderator for catalogue sign-off; junior remote support/triage for the student-error stream (may start as part of ops); and fractional finance &amp; compliance (POPIA/safeguarding).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Salary costs not yet set.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96990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A5A5A"/>
                </a:solidFill>
                <a:latin typeface="Inter"/>
                <a:cs typeface="Inter"/>
              </a:rPr>
              <a:t>Supacharge  ·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96240"/>
            <a:ext cx="108204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Inter"/>
                <a:cs typeface="Inter"/>
              </a:rPr>
              <a:t>The Ask</a:t>
            </a:r>
          </a:p>
        </p:txBody>
      </p:sp>
      <p:sp>
        <p:nvSpPr>
          <p:cNvPr id="3" name="Accent"/>
          <p:cNvSpPr/>
          <p:nvPr/>
        </p:nvSpPr>
        <p:spPr>
          <a:xfrm>
            <a:off x="685800" y="1258570"/>
            <a:ext cx="109728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Body"/>
          <p:cNvSpPr txBox="1"/>
          <p:nvPr/>
        </p:nvSpPr>
        <p:spPr>
          <a:xfrm>
            <a:off x="685800" y="1481328"/>
            <a:ext cx="10820400" cy="46843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R950,000 is being sought, preferred as equity-free grant or programme funding (no external capital raised to date — bootstrapped). Allocation across the founder's three stated priorities (indicative proposed split): ≈R450,000 AI capacity — tutoring API and compute to serve growth toward the 35,000-student first stop; ≈R300,000 marketing — launch campaigns on top of the current organic TikTok and in-person school-visits motion; ≈R200,000 office facilities. The funding carries the venture through paid public launch (January 2027; preferred earlier paid start December 2026 via the Holiday Programme).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Inter"/>
                <a:cs typeface="Inter"/>
              </a:rPr>
              <a:t>Use of funds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To date all capital deployed has been the founder's own, spent on infrastructure and AI API costs (no salaries); no external capital has been raised.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New capital would be spent per the R950,000 funding ask's indicative split: ≈R450,000 AI capacity (tutoring API and compute), ≈R300,000 marketing (launch campaigns), ≈R200,000 office facilities — the founder's three stated priorities.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96990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A5A5A"/>
                </a:solidFill>
                <a:latin typeface="Inter"/>
                <a:cs typeface="Inter"/>
              </a:rPr>
              <a:t>Supacharge  ·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96240"/>
            <a:ext cx="108204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Inter"/>
                <a:cs typeface="Inter"/>
              </a:rPr>
              <a:t>Corporate Standing</a:t>
            </a:r>
          </a:p>
        </p:txBody>
      </p:sp>
      <p:sp>
        <p:nvSpPr>
          <p:cNvPr id="3" name="Accent"/>
          <p:cNvSpPr/>
          <p:nvPr/>
        </p:nvSpPr>
        <p:spPr>
          <a:xfrm>
            <a:off x="685800" y="1258570"/>
            <a:ext cx="109728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Body"/>
          <p:cNvSpPr txBox="1"/>
          <p:nvPr/>
        </p:nvSpPr>
        <p:spPr>
          <a:xfrm>
            <a:off x="685800" y="1481328"/>
            <a:ext cx="10820400" cy="46843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Registered legal name: ROKCT INTELLIGENCE (PTY) LTD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CIPC number: 2025/919921/07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Tax compliance: Pending — tax compliance status not verified — add Tax_Pin.pdf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FF6600"/>
                </a:solidFill>
                <a:latin typeface="Inter"/>
                <a:cs typeface="Inter"/>
              </a:rPr>
              <a:t>•  </a:t>
            </a: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B-BBEE: no certificate on file; no level is claimed.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Inter"/>
                <a:cs typeface="Inter"/>
              </a:rPr>
              <a:t>Intellectual property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9A9A9A"/>
                </a:solidFill>
                <a:latin typeface="Inter"/>
                <a:cs typeface="Inter"/>
              </a:rPr>
              <a:t>The Supacharge brand; the 732-package original lesson catalogue and the automated lesson factory that produces it (published for inspection at github.com/RokctAI/factory); the Flutter app and multi-tenant backend software. Trademark registrations: none registered yet — the "ROKCT" trademark is filed with the CIPC and registration is pending; "Supacharge" has not yet been filed as a trademark.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0" i="1" dirty="0">
                <a:solidFill>
                  <a:srgbClr val="5A5A5A"/>
                </a:solidFill>
                <a:latin typeface="Inter"/>
                <a:cs typeface="Inter"/>
              </a:rPr>
              <a:t>Figures are management projections from questions.md — unaudited, and unverified where marked Pending.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96990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A5A5A"/>
                </a:solidFill>
                <a:latin typeface="Inter"/>
                <a:cs typeface="Inter"/>
              </a:rPr>
              <a:t>Supacharge  ·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rtupOS">
  <a:themeElements>
    <a:clrScheme name="StartupOS">
      <a:dk1>
        <a:srgbClr val="FFFFFF"/>
      </a:dk1>
      <a:lt1>
        <a:srgbClr val="0B0B0B"/>
      </a:lt1>
      <a:dk2>
        <a:srgbClr val="9A9A9A"/>
      </a:dk2>
      <a:lt2>
        <a:srgbClr val="161616"/>
      </a:lt2>
      <a:accent1>
        <a:srgbClr val="FF6600"/>
      </a:accent1>
      <a:accent2>
        <a:srgbClr val="2E86AB"/>
      </a:accent2>
      <a:accent3>
        <a:srgbClr val="6E7B8A"/>
      </a:accent3>
      <a:accent4>
        <a:srgbClr val="B0C4DE"/>
      </a:accent4>
      <a:accent5>
        <a:srgbClr val="4472C4"/>
      </a:accent5>
      <a:accent6>
        <a:srgbClr val="264478"/>
      </a:accent6>
      <a:hlink>
        <a:srgbClr val="FF6600"/>
      </a:hlink>
      <a:folHlink>
        <a:srgbClr val="5A5A5A"/>
      </a:folHlink>
    </a:clrScheme>
    <a:fontScheme name="StartupOS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StartupO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